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-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Scheme Count by Category (40 total)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Fund Categories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B0-4B51-92B8-04811C63D2D4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B0-4B51-92B8-04811C63D2D4}"/>
              </c:ext>
            </c:extLst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B0-4B51-92B8-04811C63D2D4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B0-4B51-92B8-04811C63D2D4}"/>
              </c:ext>
            </c:extLst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8B0-4B51-92B8-04811C63D2D4}"/>
              </c:ext>
            </c:extLst>
          </c:dPt>
          <c:dPt>
            <c:idx val="5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8B0-4B51-92B8-04811C63D2D4}"/>
              </c:ext>
            </c:extLst>
          </c:dPt>
          <c:dPt>
            <c:idx val="6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8B0-4B51-92B8-04811C63D2D4}"/>
              </c:ext>
            </c:extLst>
          </c:dPt>
          <c:dPt>
            <c:idx val="7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8B0-4B51-92B8-04811C63D2D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8B0-4B51-92B8-04811C63D2D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8B0-4B51-92B8-04811C63D2D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8B0-4B51-92B8-04811C63D2D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8B0-4B51-92B8-04811C63D2D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8B0-4B51-92B8-04811C63D2D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8B0-4B51-92B8-04811C63D2D4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8B0-4B51-92B8-04811C63D2D4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8B0-4B51-92B8-04811C63D2D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Large Cap</c:v>
                </c:pt>
                <c:pt idx="1">
                  <c:v>Mid Cap</c:v>
                </c:pt>
                <c:pt idx="2">
                  <c:v>Small Cap</c:v>
                </c:pt>
                <c:pt idx="3">
                  <c:v>Gilt</c:v>
                </c:pt>
                <c:pt idx="4">
                  <c:v>Liquid</c:v>
                </c:pt>
                <c:pt idx="5">
                  <c:v>Flexi Cap</c:v>
                </c:pt>
                <c:pt idx="6">
                  <c:v>ELSS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</c:v>
                </c:pt>
                <c:pt idx="1">
                  <c:v>7</c:v>
                </c:pt>
                <c:pt idx="2">
                  <c:v>6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8B0-4B51-92B8-04811C63D2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Avg 3-Year Return by Category (Real Data)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3-Yr Return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Small Cap</c:v>
                </c:pt>
                <c:pt idx="1">
                  <c:v>Mid Cap</c:v>
                </c:pt>
                <c:pt idx="2">
                  <c:v>Flexi Cap</c:v>
                </c:pt>
                <c:pt idx="3">
                  <c:v>Value</c:v>
                </c:pt>
                <c:pt idx="4">
                  <c:v>Large &amp; Mid</c:v>
                </c:pt>
                <c:pt idx="5">
                  <c:v>Large Cap</c:v>
                </c:pt>
                <c:pt idx="6">
                  <c:v>ELSS</c:v>
                </c:pt>
                <c:pt idx="7">
                  <c:v>Index</c:v>
                </c:pt>
                <c:pt idx="8">
                  <c:v>Short Dur</c:v>
                </c:pt>
                <c:pt idx="9">
                  <c:v>Liquid</c:v>
                </c:pt>
                <c:pt idx="10">
                  <c:v>Gilt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21.69</c:v>
                </c:pt>
                <c:pt idx="1">
                  <c:v>16.59</c:v>
                </c:pt>
                <c:pt idx="2">
                  <c:v>15.5</c:v>
                </c:pt>
                <c:pt idx="3">
                  <c:v>14.76</c:v>
                </c:pt>
                <c:pt idx="4">
                  <c:v>14.56</c:v>
                </c:pt>
                <c:pt idx="5">
                  <c:v>12.99</c:v>
                </c:pt>
                <c:pt idx="6">
                  <c:v>13.58</c:v>
                </c:pt>
                <c:pt idx="7">
                  <c:v>12.1</c:v>
                </c:pt>
                <c:pt idx="8">
                  <c:v>7.37</c:v>
                </c:pt>
                <c:pt idx="9">
                  <c:v>6.33</c:v>
                </c:pt>
                <c:pt idx="10">
                  <c:v>5.69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3B-4C68-99BD-EA93F43C00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AUM by Fund House — Dec 2025 (₹ '000 Cr)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(₹ '000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SBI MF</c:v>
                </c:pt>
                <c:pt idx="1">
                  <c:v>ICICI Pru</c:v>
                </c:pt>
                <c:pt idx="2">
                  <c:v>HDFC MF</c:v>
                </c:pt>
                <c:pt idx="3">
                  <c:v>Nippon</c:v>
                </c:pt>
                <c:pt idx="4">
                  <c:v>Kotak MF</c:v>
                </c:pt>
                <c:pt idx="5">
                  <c:v>ABSL MF</c:v>
                </c:pt>
                <c:pt idx="6">
                  <c:v>UTI MF</c:v>
                </c:pt>
                <c:pt idx="7">
                  <c:v>Axis MF</c:v>
                </c:pt>
                <c:pt idx="8">
                  <c:v>Mirae MF</c:v>
                </c:pt>
                <c:pt idx="9">
                  <c:v>DSP MF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1250</c:v>
                </c:pt>
                <c:pt idx="1">
                  <c:v>1074</c:v>
                </c:pt>
                <c:pt idx="2">
                  <c:v>930</c:v>
                </c:pt>
                <c:pt idx="3">
                  <c:v>700</c:v>
                </c:pt>
                <c:pt idx="4">
                  <c:v>580</c:v>
                </c:pt>
                <c:pt idx="5">
                  <c:v>460</c:v>
                </c:pt>
                <c:pt idx="6">
                  <c:v>410</c:v>
                </c:pt>
                <c:pt idx="7">
                  <c:v>350</c:v>
                </c:pt>
                <c:pt idx="8">
                  <c:v>290</c:v>
                </c:pt>
                <c:pt idx="9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64-448F-94F6-25219EBC98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Monthly SIP Inflows ₹ Cr (Jan 2022 – Dec 2025)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SIP Inflow (₹ Cr)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Jan'22</c:v>
                </c:pt>
                <c:pt idx="1">
                  <c:v>Jun'22</c:v>
                </c:pt>
                <c:pt idx="2">
                  <c:v>Jan'23</c:v>
                </c:pt>
                <c:pt idx="3">
                  <c:v>Jun'23</c:v>
                </c:pt>
                <c:pt idx="4">
                  <c:v>Jan'24</c:v>
                </c:pt>
                <c:pt idx="5">
                  <c:v>Jun'24</c:v>
                </c:pt>
                <c:pt idx="6">
                  <c:v>Jan'25</c:v>
                </c:pt>
                <c:pt idx="7">
                  <c:v>Jun'25</c:v>
                </c:pt>
                <c:pt idx="8">
                  <c:v>Dec'25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11517</c:v>
                </c:pt>
                <c:pt idx="1">
                  <c:v>12276</c:v>
                </c:pt>
                <c:pt idx="2">
                  <c:v>13856</c:v>
                </c:pt>
                <c:pt idx="3">
                  <c:v>15245</c:v>
                </c:pt>
                <c:pt idx="4">
                  <c:v>18838</c:v>
                </c:pt>
                <c:pt idx="5">
                  <c:v>21262</c:v>
                </c:pt>
                <c:pt idx="6">
                  <c:v>26459</c:v>
                </c:pt>
                <c:pt idx="7">
                  <c:v>27680</c:v>
                </c:pt>
                <c:pt idx="8">
                  <c:v>31002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1E0-43A6-9A9B-F795F1676D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93B"/>
                </a:solidFill>
                <a:latin typeface="Arial"/>
              </a:rPr>
              <a:t>Risk Grade Distribution (40 Schemes)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Grade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298-48A7-95EF-A4E34E738EF1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298-48A7-95EF-A4E34E738EF1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298-48A7-95EF-A4E34E738EF1}"/>
              </c:ext>
            </c:extLst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298-48A7-95EF-A4E34E738EF1}"/>
              </c:ext>
            </c:extLst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298-48A7-95EF-A4E34E738EF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298-48A7-95EF-A4E34E738EF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298-48A7-95EF-A4E34E738EF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298-48A7-95EF-A4E34E738EF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298-48A7-95EF-A4E34E738EF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298-48A7-95EF-A4E34E738EF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Moderate</c:v>
                </c:pt>
                <c:pt idx="1">
                  <c:v>High</c:v>
                </c:pt>
                <c:pt idx="2">
                  <c:v>Very High</c:v>
                </c:pt>
                <c:pt idx="3">
                  <c:v>Low</c:v>
                </c:pt>
                <c:pt idx="4">
                  <c:v>Moderately High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298-48A7-95EF-A4E34E738E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93B"/>
                </a:solidFill>
                <a:latin typeface="Arial"/>
              </a:rPr>
              <a:t>Industry Folio Count Growth (Crore)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Folios (Crore)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Jan'22</c:v>
                </c:pt>
                <c:pt idx="1">
                  <c:v>Jan'23</c:v>
                </c:pt>
                <c:pt idx="2">
                  <c:v>Jan'24</c:v>
                </c:pt>
                <c:pt idx="3">
                  <c:v>Jul'24</c:v>
                </c:pt>
                <c:pt idx="4">
                  <c:v>Dec'25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13.26</c:v>
                </c:pt>
                <c:pt idx="1">
                  <c:v>16.420000000000002</c:v>
                </c:pt>
                <c:pt idx="2">
                  <c:v>19.78</c:v>
                </c:pt>
                <c:pt idx="3">
                  <c:v>22.14</c:v>
                </c:pt>
                <c:pt idx="4">
                  <c:v>26.12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A37-4879-B86C-9511A30793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CAGR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598-4E8C-BCB4-E23121F62721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98-4E8C-BCB4-E23121F62721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598-4E8C-BCB4-E23121F62721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598-4E8C-BCB4-E23121F62721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598-4E8C-BCB4-E23121F6272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Mirae Lrg Cap</c:v>
                </c:pt>
                <c:pt idx="1">
                  <c:v>Mirae TaxSaver</c:v>
                </c:pt>
                <c:pt idx="2">
                  <c:v>DSP Small Cap</c:v>
                </c:pt>
                <c:pt idx="3">
                  <c:v>SBI Small Cap</c:v>
                </c:pt>
                <c:pt idx="4">
                  <c:v>ICICI Midcap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30.95</c:v>
                </c:pt>
                <c:pt idx="1">
                  <c:v>31.92</c:v>
                </c:pt>
                <c:pt idx="2">
                  <c:v>32.26</c:v>
                </c:pt>
                <c:pt idx="3">
                  <c:v>32.4</c:v>
                </c:pt>
                <c:pt idx="4">
                  <c:v>32.799999999999997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598-4E8C-BCB4-E23121F627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SBI MF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605</c:v>
                </c:pt>
                <c:pt idx="1">
                  <c:v>780</c:v>
                </c:pt>
                <c:pt idx="2">
                  <c:v>1065</c:v>
                </c:pt>
                <c:pt idx="3">
                  <c:v>1250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0C2-44C3-A9DD-FFCB9BBB55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ICICI Pru</c:v>
                </c:pt>
              </c:strCache>
            </c:strRef>
          </c:tx>
          <c:spPr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465</c:v>
                </c:pt>
                <c:pt idx="1">
                  <c:v>540</c:v>
                </c:pt>
                <c:pt idx="2">
                  <c:v>770</c:v>
                </c:pt>
                <c:pt idx="3">
                  <c:v>1074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0C2-44C3-A9DD-FFCB9BBB55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HDFC MF</c:v>
                </c:pt>
              </c:strCache>
            </c:strRef>
          </c:tx>
          <c:spPr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440</c:v>
                </c:pt>
                <c:pt idx="1">
                  <c:v>490</c:v>
                </c:pt>
                <c:pt idx="2">
                  <c:v>715</c:v>
                </c:pt>
                <c:pt idx="3">
                  <c:v>930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0C2-44C3-A9DD-FFCB9BBB55F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Nippon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270</c:v>
                </c:pt>
                <c:pt idx="1">
                  <c:v>330</c:v>
                </c:pt>
                <c:pt idx="2">
                  <c:v>490</c:v>
                </c:pt>
                <c:pt idx="3">
                  <c:v>700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F0C2-44C3-A9DD-FFCB9BBB55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3-Yr Avg Return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Small Cap</c:v>
                </c:pt>
                <c:pt idx="1">
                  <c:v>Mid Cap</c:v>
                </c:pt>
                <c:pt idx="2">
                  <c:v>Flexi Cap</c:v>
                </c:pt>
                <c:pt idx="3">
                  <c:v>Value</c:v>
                </c:pt>
                <c:pt idx="4">
                  <c:v>Large Cap</c:v>
                </c:pt>
                <c:pt idx="5">
                  <c:v>Index</c:v>
                </c:pt>
                <c:pt idx="6">
                  <c:v>Short Dur</c:v>
                </c:pt>
                <c:pt idx="7">
                  <c:v>Liquid</c:v>
                </c:pt>
                <c:pt idx="8">
                  <c:v>Gilt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21.69</c:v>
                </c:pt>
                <c:pt idx="1">
                  <c:v>16.59</c:v>
                </c:pt>
                <c:pt idx="2">
                  <c:v>15.5</c:v>
                </c:pt>
                <c:pt idx="3">
                  <c:v>14.76</c:v>
                </c:pt>
                <c:pt idx="4">
                  <c:v>12.99</c:v>
                </c:pt>
                <c:pt idx="5">
                  <c:v>12.1</c:v>
                </c:pt>
                <c:pt idx="6">
                  <c:v>7.37</c:v>
                </c:pt>
                <c:pt idx="7">
                  <c:v>6.33</c:v>
                </c:pt>
                <c:pt idx="8">
                  <c:v>5.69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D6-4D9A-8707-EEB9EAEE5C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93B"/>
                </a:solidFill>
                <a:latin typeface="Arial"/>
              </a:rPr>
              <a:t>Investor Age Group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 Group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B9-4C3F-AD01-8257B0A580B3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B9-4C3F-AD01-8257B0A580B3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B9-4C3F-AD01-8257B0A580B3}"/>
              </c:ext>
            </c:extLst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B9-4C3F-AD01-8257B0A580B3}"/>
              </c:ext>
            </c:extLst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0B9-4C3F-AD01-8257B0A580B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B9-4C3F-AD01-8257B0A580B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0B9-4C3F-AD01-8257B0A580B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0B9-4C3F-AD01-8257B0A580B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0B9-4C3F-AD01-8257B0A580B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0B9-4C3F-AD01-8257B0A580B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26–35</c:v>
                </c:pt>
                <c:pt idx="1">
                  <c:v>36–45</c:v>
                </c:pt>
                <c:pt idx="2">
                  <c:v>18–25</c:v>
                </c:pt>
                <c:pt idx="3">
                  <c:v>46–55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41.1</c:v>
                </c:pt>
                <c:pt idx="1">
                  <c:v>24.9</c:v>
                </c:pt>
                <c:pt idx="2">
                  <c:v>15</c:v>
                </c:pt>
                <c:pt idx="3">
                  <c:v>11.5</c:v>
                </c:pt>
                <c:pt idx="4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0B9-4C3F-AD01-8257B0A580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93B"/>
                </a:solidFill>
                <a:latin typeface="Arial"/>
              </a:rPr>
              <a:t>Transaction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C2-4722-AE1C-D2F04DEFFE6D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C2-4722-AE1C-D2F04DEFFE6D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C2-4722-AE1C-D2F04DEFFE6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C2-4722-AE1C-D2F04DEFFE6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C2-4722-AE1C-D2F04DEFFE6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C2-4722-AE1C-D2F04DEFFE6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Lumpsum</c:v>
                </c:pt>
                <c:pt idx="1">
                  <c:v>Redemption</c:v>
                </c:pt>
                <c:pt idx="2">
                  <c:v>SIP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58.49</c:v>
                </c:pt>
                <c:pt idx="1">
                  <c:v>35.340000000000003</c:v>
                </c:pt>
                <c:pt idx="2">
                  <c:v>6.17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C2-4722-AE1C-D2F04DEFF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93B"/>
                </a:solidFill>
                <a:latin typeface="Arial"/>
              </a:rPr>
              <a:t>T30 vs B30 Cities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City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8B-49A6-8A2E-AFD34A7D31A9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8B-49A6-8A2E-AFD34A7D31A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8B-49A6-8A2E-AFD34A7D31A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8B-49A6-8A2E-AFD34A7D31A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T30</c:v>
                </c:pt>
                <c:pt idx="1">
                  <c:v>B30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66.3</c:v>
                </c:pt>
                <c:pt idx="1">
                  <c:v>33.700000000000003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8B-49A6-8A2E-AFD34A7D3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93B"/>
                </a:solidFill>
                <a:latin typeface="Arial"/>
              </a:rPr>
              <a:t>Gender Split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Gender Distribution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D7F-48EF-AF7F-310F726E8859}"/>
              </c:ext>
            </c:extLst>
          </c:dPt>
          <c:dPt>
            <c:idx val="1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7F-48EF-AF7F-310F726E885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66.5</c:v>
                </c:pt>
                <c:pt idx="1">
                  <c:v>33.5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7F-48EF-AF7F-310F726E88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93B"/>
                </a:solidFill>
                <a:latin typeface="Arial"/>
              </a:rPr>
              <a:t>Sector Allocation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Sector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FD8-4B7D-9919-B6584D483813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D8-4B7D-9919-B6584D483813}"/>
              </c:ext>
            </c:extLst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D8-4B7D-9919-B6584D483813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D8-4B7D-9919-B6584D483813}"/>
              </c:ext>
            </c:extLst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FD8-4B7D-9919-B6584D483813}"/>
              </c:ext>
            </c:extLst>
          </c:dPt>
          <c:dPt>
            <c:idx val="5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FD8-4B7D-9919-B6584D483813}"/>
              </c:ext>
            </c:extLst>
          </c:dPt>
          <c:dPt>
            <c:idx val="6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FD8-4B7D-9919-B6584D483813}"/>
              </c:ext>
            </c:extLst>
          </c:dPt>
          <c:dPt>
            <c:idx val="7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FD8-4B7D-9919-B6584D483813}"/>
              </c:ext>
            </c:extLst>
          </c:dPt>
          <c:dPt>
            <c:idx val="8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FD8-4B7D-9919-B6584D483813}"/>
              </c:ext>
            </c:extLst>
          </c:dPt>
          <c:dPt>
            <c:idx val="9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FD8-4B7D-9919-B6584D483813}"/>
              </c:ext>
            </c:extLst>
          </c:dPt>
          <c:cat>
            <c:strRef>
              <c:f>Sheet1!$A$2:$A$11</c:f>
              <c:strCache>
                <c:ptCount val="10"/>
                <c:pt idx="0">
                  <c:v>Banking</c:v>
                </c:pt>
                <c:pt idx="1">
                  <c:v>IT</c:v>
                </c:pt>
                <c:pt idx="2">
                  <c:v>Pharma</c:v>
                </c:pt>
                <c:pt idx="3">
                  <c:v>Auto</c:v>
                </c:pt>
                <c:pt idx="4">
                  <c:v>Utilities</c:v>
                </c:pt>
                <c:pt idx="5">
                  <c:v>FMCG</c:v>
                </c:pt>
                <c:pt idx="6">
                  <c:v>Infra</c:v>
                </c:pt>
                <c:pt idx="7">
                  <c:v>Diversified</c:v>
                </c:pt>
                <c:pt idx="8">
                  <c:v>Telecom</c:v>
                </c:pt>
                <c:pt idx="9">
                  <c:v>Others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19.2</c:v>
                </c:pt>
                <c:pt idx="1">
                  <c:v>13.4</c:v>
                </c:pt>
                <c:pt idx="2">
                  <c:v>12</c:v>
                </c:pt>
                <c:pt idx="3">
                  <c:v>9.5</c:v>
                </c:pt>
                <c:pt idx="4">
                  <c:v>7.8</c:v>
                </c:pt>
                <c:pt idx="5">
                  <c:v>6.7</c:v>
                </c:pt>
                <c:pt idx="6">
                  <c:v>5.7</c:v>
                </c:pt>
                <c:pt idx="7">
                  <c:v>5</c:v>
                </c:pt>
                <c:pt idx="8">
                  <c:v>4.3</c:v>
                </c:pt>
                <c:pt idx="9">
                  <c:v>16.399999999999999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FD8-4B7D-9919-B6584D4838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463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data: 40 schemes across 12 categories. Small Cap leads with 21.69% avg 3yr return. Gilt and Liquid at ~5-6%. Source: 07_scheme_performance_cleaned.csv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data: SBI MF is the largest AMC at ₹12.5 lakh crore AUM. SIP inflows grew from ₹11,517 Cr (Jan 2022) to ₹31,002 Cr (Dec 2025) — a 2.7x increase. Source: 03_aum_by_fund_house.csv, 04_monthly_sip_inflows.csv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data: Avg Sharpe 1.36, Sortino 2.08, Alpha 1.25, worst MDD -33.5%. Folio count doubled from 13.26 Cr to 26.12 Cr. Source: 07_scheme_performance_cleaned.csv, 06_industry_folio_count.csv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 from fund_scorecard.csv and cagr_table.csv. Top performers are Small/Mid Cap equity funds with CAGRs above 30%. Bottom performers have negative Sharpe ratios indicating underperformance vs risk-free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data: Total industry AUM ₹62.74 Lakh Crore. SBI leads at ₹12.5L Cr. SIP peak at ₹31,002 Cr in Dec 2025. Folio count doubled to 26.12 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data: 26-35 age group = 41.1% of investors. Lumpsum dominates at 58.49% of transactions. T30 cities = 66.3%. Male investors = 66.5%. Banking sector largest at 19.2%. Source: 08_investor_transactions_cleaned.csv, 09_portfolio_holdings.csv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findings derived from actual uploaded data files. No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7" Type="http://schemas.openxmlformats.org/officeDocument/2006/relationships/chart" Target="../charts/chart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·  DATA ANALYTICS INTERNSHIP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 Pipeline  ·  EDA  ·  Risk-Adjusted Performance Analytics  ·  Interactive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30752"/>
            <a:ext cx="329184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June 2026  |  40 Schemes  ·  10 Fund Houses  ·  2022–2026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lack structured, data-driven tools to compare Indian mutual fund performance across risk-return dimensions.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NAV data is fragmented across 40+ AMCs, making historical trend analysis and performance comparison nearly impossible without automation.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834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664208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ETL pipeline - ingest, clean &amp; store NAV + AUM + SIP data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across 12 categories, 10 AMCs, 2022-2026 time horizon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Sharpe, Sortino, Alpha, Beta, Max Drawdown, CAGR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interactive HTML dashboard (4 panels)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clean, documented GitHub repo tagged v1.0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05840" y="1234440"/>
            <a:ext cx="1280160" cy="128016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AMFI API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+ History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3832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for 40 schemes across 10 AMCs. 4-year history (2022–2026). Live NAV fetch for 5 key schemes. Direct &amp; Regular plan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09728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050792" y="1234440"/>
            <a:ext cx="1280160" cy="128016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10712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AMFI Industry Data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10712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+ SIP + Folios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56432" y="33832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AUM by fund house (2022–2025). Monthly SIP inflows — ₹11,517 Cr (Jan'22) to ₹31,002 Cr (Dec'25). Folio count growth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73368" y="109728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04888" y="1234440"/>
            <a:ext cx="1280160" cy="128016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64808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Transactions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64808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Analytics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10528" y="33832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 with state, city tier, age group &amp; gender. 10,000+ records covering SIP, Lumpsum &amp; Redemption across 12 states.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 ·  10 Fund Houses  ·  12 Categories  ·  4-Year History  ·  10,000+ Investor Records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ETL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371600" cy="2560320"/>
          </a:xfrm>
          <a:prstGeom prst="roundRect">
            <a:avLst>
              <a:gd name="adj" fmla="val 6667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307592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2404872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Benchmark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Factsheets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242316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20240" y="1143000"/>
            <a:ext cx="1371600" cy="2560320"/>
          </a:xfrm>
          <a:prstGeom prst="roundRect">
            <a:avLst>
              <a:gd name="adj" fmla="val 6667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1720" y="1307592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2024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11680" y="2404872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nulls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NAV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42316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520440" y="1143000"/>
            <a:ext cx="1371600" cy="2560320"/>
          </a:xfrm>
          <a:prstGeom prst="roundRect">
            <a:avLst>
              <a:gd name="adj" fmla="val 6667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931920" y="1307592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2044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11880" y="2404872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42316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20640" y="1143000"/>
            <a:ext cx="1371600" cy="2560320"/>
          </a:xfrm>
          <a:prstGeom prst="roundRect">
            <a:avLst>
              <a:gd name="adj" fmla="val 6667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532120" y="1307592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2064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12080" y="2404872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Calc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242316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720840" y="1143000"/>
            <a:ext cx="1371600" cy="2560320"/>
          </a:xfrm>
          <a:prstGeom prst="roundRect">
            <a:avLst>
              <a:gd name="adj" fmla="val 6667"/>
            </a:avLst>
          </a:prstGeom>
          <a:solidFill>
            <a:srgbClr val="EC4899">
              <a:alpha val="12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132320" y="1307592"/>
            <a:ext cx="548640" cy="5486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2084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12280" y="2404872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4-Panel HTML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9776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 3.11 · pandas · SQLite · requests · pdfplumber · Matplotlib · Seaborn · Plotly · HTML/CSS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- Fund Universe &amp; Avg 3-Year Returns by Category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96012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- AUM Concentration &amp; SIP Inflow Growth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4389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846320" y="960120"/>
          <a:ext cx="4023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- Risk-Adjusted Returns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Sharpe Ratio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40 Schemes)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avg: 0.90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23160" y="100584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23160" y="10972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Sortino Ratio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40 Schemes)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23160" y="2423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downside protection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0" y="10972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-33.5%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(Worst Scheme)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Direct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20840" y="100584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720840" y="109728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Alpha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Schemes)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20840" y="24231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excess return</a:t>
            </a:r>
            <a:endParaRPr lang="en-US" sz="8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2926080"/>
          <a:ext cx="36576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1"/>
          <p:cNvGraphicFramePr/>
          <p:nvPr/>
        </p:nvGraphicFramePr>
        <p:xfrm>
          <a:off x="4389120" y="2926080"/>
          <a:ext cx="44805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- Fund Rankings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- BY CAGR (fund_scorecard.csv)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4114800" cy="23317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– 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– 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Small Cap – 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Tax Saver – Reg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 – Reg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FUNDS - BY SCORE (fund_scorecard.csv)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4114800" cy="23317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 Mid Cap – 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Top 100 – 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– 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Small Cap – 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 – 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/>
        </p:nvGraphicFramePr>
        <p:xfrm>
          <a:off x="365760" y="3840480"/>
          <a:ext cx="841248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- Industry Overview &amp; Performance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4264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6232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56232" y="14264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00984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₹62.74L Cr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00984" y="14264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₹31,002 Cr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45736" y="14264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SIP (Dec'25)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90488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90488" y="14264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35240" y="1078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35240" y="14264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Sharpe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1993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AUM Growth by Top 4 AMCs (₹ '000 Cr)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20040" y="2331720"/>
          <a:ext cx="4023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4754880" y="192024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892040" y="1993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Avg 3-Yr Return by Category (%)</a:t>
            </a:r>
            <a:endParaRPr lang="en-US" sz="11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800600" y="2331720"/>
          <a:ext cx="4023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- Investor Analytics &amp; Transaction Insights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3657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206240" y="1005840"/>
          <a:ext cx="23774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6766560" y="1005840"/>
          <a:ext cx="21031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3"/>
          <p:cNvGraphicFramePr/>
          <p:nvPr/>
        </p:nvGraphicFramePr>
        <p:xfrm>
          <a:off x="4206240" y="3291840"/>
          <a:ext cx="237744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Chart 4"/>
          <p:cNvGraphicFramePr/>
          <p:nvPr/>
        </p:nvGraphicFramePr>
        <p:xfrm>
          <a:off x="6766560" y="3291840"/>
          <a:ext cx="21031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(From Real Data)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funds lead with avg 3-yr return of 21.69% vs Gilt at 5.69%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02536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5681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2.7× - from ₹11,517 Cr (Jan'22) to ₹31,002 Cr (Dec'25)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 count doubled - 13.26 Cr to 26.12 Cr in 4 years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1810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07238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AMCs (SBI, ICICI, HDFC) hold 51% of total ₹62.74L Cr AUM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6301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Sharpe 1.36, Sortino 2.08 - healthy risk-adjusted returns overall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23367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41879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fund NAV correlations are near zero (-0.09 to 0.05) - diversification works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024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44475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12080" y="13990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Sharpe &gt; 1.0 filter to screen - 40% of schemes in our universe qualify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00253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212080" y="195681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 age group (41.1%) is the key target segment for MF product marketing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56032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212080" y="25146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cities (33.7% of investors) represent a growth opportunity for AMCs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11810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212080" y="307238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fund-to-fund correlation confirms benefits of multi-category portfolio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367588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212080" y="36301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AMFI refresh (cron job) for live dashboard in v2.0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423367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212080" y="418795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ML-based fund ranking model (XGBoost on risk metrics) as next phase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5029200" cy="5029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Capstone  ·  June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3657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github.com/RagdeepSingh89/Mutual-Fund-Analytics-Internship-Project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 · 10 AMCs · 12 Categories · ₹62.74 Lakh Crore AUM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40690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Ragdeep Singh · Ramakrishna · Geetha · RD Soberoi · Rizwan Shaik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4480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1212</Words>
  <Application>Microsoft Office PowerPoint</Application>
  <PresentationFormat>On-screen Show (16:9)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Capstone</dc:title>
  <dc:subject>PptxGenJS Presentation</dc:subject>
  <dc:creator>PptxGenJS</dc:creator>
  <cp:lastModifiedBy>Ragdeep Singh</cp:lastModifiedBy>
  <cp:revision>2</cp:revision>
  <dcterms:created xsi:type="dcterms:W3CDTF">2026-06-12T05:49:18Z</dcterms:created>
  <dcterms:modified xsi:type="dcterms:W3CDTF">2026-06-12T17:50:33Z</dcterms:modified>
</cp:coreProperties>
</file>